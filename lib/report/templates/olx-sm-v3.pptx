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XYZtb5Q6ssOgFtGDdtcflcl+2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3BDAC9-63C2-4677-A820-4A4CC105E6EA}">
  <a:tblStyle styleId="{203BDAC9-63C2-4677-A820-4A4CC105E6E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3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OLX SOCIAL MEDIA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{{campaign_name_full}}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{{typ}} · {{cel}}  —  Campaign Report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2697480"/>
            <a:ext cx="10725912" cy="868680"/>
          </a:xfrm>
          <a:prstGeom prst="roundRect">
            <a:avLst>
              <a:gd fmla="val 6316" name="adj"/>
            </a:avLst>
          </a:prstGeom>
          <a:solidFill>
            <a:srgbClr val="0B4A50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60120" y="2788920"/>
            <a:ext cx="10241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PEŁNA NAZWA KAMPANII (Meta/TikTok) — zweryfikuj ze zrzutem z platformy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60120" y="301752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{{naming_meta}}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731520" y="3794760"/>
            <a:ext cx="10725912" cy="0"/>
          </a:xfrm>
          <a:prstGeom prst="straightConnector1">
            <a:avLst/>
          </a:prstGeom>
          <a:noFill/>
          <a:ln cap="flat" cmpd="sng" w="12700">
            <a:solidFill>
              <a:srgbClr val="1C5B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731520" y="4023360"/>
            <a:ext cx="249859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AGENCJA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31520" y="4251960"/>
            <a:ext cx="24985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{{agency_code}}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412998" y="4023360"/>
            <a:ext cx="249859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OKRES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412998" y="4251960"/>
            <a:ext cx="24985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{{period}}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094476" y="4023360"/>
            <a:ext cx="249859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BUDŻET ŁĄCZNIE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094476" y="4251960"/>
            <a:ext cx="24985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{{budget_total}}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775954" y="4023360"/>
            <a:ext cx="249859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KANAŁY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775954" y="4251960"/>
            <a:ext cx="24985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{{channels_line}}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31520" y="4709160"/>
            <a:ext cx="107259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Instrukcja dla PatoAgencji :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uzupełnij wszystkie pola w [nawiasach kwadratowych]. Nazwa kampanii i jej segmenty (PILAR/TYP/CEL/wersja) muszą być identyczne z tym, co wpisano w panelu Meta/TikTok/LinkedIn/YouTube.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Zgodny z: OLX Brand Social — Campaign Naming Convention (obowiązuje od 01.07.2026)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31520" y="6492240"/>
            <a:ext cx="10058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B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F6B70"/>
                </a:solidFill>
                <a:latin typeface="Arial"/>
                <a:ea typeface="Arial"/>
                <a:cs typeface="Arial"/>
                <a:sym typeface="Arial"/>
              </a:rPr>
              <a:t>OLX Social Media Report · Template v3 · AI-readable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457200" y="320040"/>
            <a:ext cx="384048" cy="384048"/>
          </a:xfrm>
          <a:prstGeom prst="ellipse">
            <a:avLst/>
          </a:prstGeom>
          <a:solidFill>
            <a:srgbClr val="00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320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987552" y="30175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OLX SOCIAL MEDIA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87552" y="48463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Metadata &amp; Campaign Naming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87552" y="89611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Segmenty nazwy kampanii · pełne naming strings per platforma · AI-readable header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561320" y="320040"/>
            <a:ext cx="1170432" cy="384048"/>
          </a:xfrm>
          <a:prstGeom prst="roundRect">
            <a:avLst>
              <a:gd fmla="val 14286" name="adj"/>
            </a:avLst>
          </a:prstGeom>
          <a:solidFill>
            <a:srgbClr val="00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561320" y="320040"/>
            <a:ext cx="1170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{{pilar}}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87552" y="117043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Każde pole wymagane. </a:t>
            </a: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Nie zostawiaj tekstu w [nawiasach] w finalnym raporcie. Wersja startuje od v1 — recykling kreacji w nowym flighcie = v2, v3...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1536192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SEGMENTY NAZWY KAMPANII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" name="Google Shape;48;p2"/>
          <p:cNvGraphicFramePr/>
          <p:nvPr/>
        </p:nvGraphicFramePr>
        <p:xfrm>
          <a:off x="45720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{203BDAC9-63C2-4677-A820-4A4CC105E6EA}</a:tableStyleId>
              </a:tblPr>
              <a:tblGrid>
                <a:gridCol w="1234450"/>
                <a:gridCol w="2148850"/>
                <a:gridCol w="292607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Segment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 wpisania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Dozwolone wartości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489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3C348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PILAR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{{pilar}}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GOODS · JOBS · PARTS · SVC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33806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338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{{typ}}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CAMP · CEP · FEED · LIST · PROMO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2B13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712B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2B13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712B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(Meta/TikTok/LI)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{{cel}}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REACH · TRAFF · VV · ENG · CONV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2B13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712B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TYP_YT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2B13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712B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(YouTube, zamiast CEL)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ourier New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{{typ_yt}}</a:t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ourier New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/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EFF-REACH · TGT-FREQ · BUMPER · INSTREAM · SKIPP · MASTHEAD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Opis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{{opis}}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 3 słowa, bez PL znaków, myślnik zamiast spacji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489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3C348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Wersja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{{version}}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v1 start, recykling w nowym flighcie -&gt; v2, v3...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Agencja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{{agency_code}}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PATO = PatoAgencja · MM = Mastermind · OLX = in-house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850"/>
                        <a:buFont typeface="Arial"/>
                        <a:buNone/>
                      </a:pPr>
                      <a:r>
                        <a:rPr b="1" i="1" lang="en-US" sz="8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TG / inne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850"/>
                        <a:buFont typeface="Arial"/>
                        <a:buNone/>
                      </a:pPr>
                      <a:r>
                        <a:rPr b="1" i="1" lang="en-US" sz="8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(opcjonalnie)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00"/>
                        <a:buFont typeface="Courier New"/>
                        <a:buNone/>
                      </a:pPr>
                      <a:r>
                        <a:rPr i="1" lang="en-US" sz="900" u="none" cap="none" strike="noStrike">
                          <a:solidFill>
                            <a:srgbClr val="94A3B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{{tg}}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00"/>
                        <a:buFont typeface="Arial"/>
                        <a:buNone/>
                      </a:pPr>
                      <a:r>
                        <a:rPr i="1" lang="en-US" sz="9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Ostatni segment Ad Setu/Campaign: TG, placement lub segment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" name="Google Shape;49;p2"/>
          <p:cNvSpPr/>
          <p:nvPr/>
        </p:nvSpPr>
        <p:spPr>
          <a:xfrm>
            <a:off x="6949440" y="1536192"/>
            <a:ext cx="47823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PEŁNE NAZWY KAMPANII PER PLATFORMA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Google Shape;50;p2"/>
          <p:cNvGraphicFramePr/>
          <p:nvPr/>
        </p:nvGraphicFramePr>
        <p:xfrm>
          <a:off x="69494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{203BDAC9-63C2-4677-A820-4A4CC105E6EA}</a:tableStyleId>
              </a:tblPr>
              <a:tblGrid>
                <a:gridCol w="1371600"/>
                <a:gridCol w="34107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Kanał / poziom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Pełna nazwa kampanii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Ads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(Kampania)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ourier New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{{naming_meta}}</a:t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TikTok Ads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(Kampania)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ourier New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{{naming_tiktok}}</a:t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LinkedIn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(Campaign Group)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ourier New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{{naming_linkedin_group}}</a:t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LinkedIn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(Campaign — tu jest CEL)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ourier New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{{naming_linkedin}}</a:t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YouTube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(Kampania, TYP_YT zam. CEL)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ourier New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{{naming_youtube}}</a:t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" name="Google Shape;51;p2"/>
          <p:cNvSpPr/>
          <p:nvPr/>
        </p:nvSpPr>
        <p:spPr>
          <a:xfrm>
            <a:off x="6949440" y="4279392"/>
            <a:ext cx="4782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Kopiuj dokładnie z panelu reklamowego. Nieaktywny kanał w tym raporcie: wpisz N/A zamiast usuwać wiersz.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57200" y="45902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BUDGET &amp; CHANNELS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4828032"/>
            <a:ext cx="2145182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30352" y="4873752"/>
            <a:ext cx="199887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BUDGET TOTAL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30352" y="5056632"/>
            <a:ext cx="19988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02F34"/>
                </a:solidFill>
                <a:latin typeface="Courier New"/>
                <a:ea typeface="Courier New"/>
                <a:cs typeface="Courier New"/>
                <a:sym typeface="Courier New"/>
              </a:rPr>
              <a:t>{{budget_total}}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712110" y="4828032"/>
            <a:ext cx="2145182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2785262" y="4873752"/>
            <a:ext cx="199887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META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785262" y="5056632"/>
            <a:ext cx="19988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02F34"/>
                </a:solidFill>
                <a:latin typeface="Courier New"/>
                <a:ea typeface="Courier New"/>
                <a:cs typeface="Courier New"/>
                <a:sym typeface="Courier New"/>
              </a:rPr>
              <a:t>{{meta_spend}}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967021" y="4828032"/>
            <a:ext cx="2145182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040173" y="4873752"/>
            <a:ext cx="199887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TIKTOK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040173" y="5056632"/>
            <a:ext cx="19988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02F34"/>
                </a:solidFill>
                <a:latin typeface="Courier New"/>
                <a:ea typeface="Courier New"/>
                <a:cs typeface="Courier New"/>
                <a:sym typeface="Courier New"/>
              </a:rPr>
              <a:t>{{tiktok_spend}}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221931" y="4828032"/>
            <a:ext cx="2145182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295083" y="4873752"/>
            <a:ext cx="199887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YOUTUBE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295083" y="5056632"/>
            <a:ext cx="19988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02F34"/>
                </a:solidFill>
                <a:latin typeface="Courier New"/>
                <a:ea typeface="Courier New"/>
                <a:cs typeface="Courier New"/>
                <a:sym typeface="Courier New"/>
              </a:rPr>
              <a:t>{{youtube_spend}}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9476842" y="4828032"/>
            <a:ext cx="2145182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9549994" y="4873752"/>
            <a:ext cx="199887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9549994" y="5056632"/>
            <a:ext cx="19988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02F34"/>
                </a:solidFill>
                <a:latin typeface="Courier New"/>
                <a:ea typeface="Courier New"/>
                <a:cs typeface="Courier New"/>
                <a:sym typeface="Courier New"/>
              </a:rPr>
              <a:t>{{linkedin_spend}}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57200" y="5440680"/>
            <a:ext cx="112745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Kanały per pilar: GOODS/PARTS/SVC -&gt; Meta+TikTok+YT · JOBS -&gt; Meta+TikTok+LI. Nieużywany kanał = N/A (nie zostawiaj pustego pola).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57200" y="57424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CAMPAIGN NAME (PEŁNA, CZYTELNA) / PERIOD / CREATIVE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57200" y="5961888"/>
            <a:ext cx="11274552" cy="530352"/>
          </a:xfrm>
          <a:prstGeom prst="roundRect">
            <a:avLst>
              <a:gd fmla="val 862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40080" y="600760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CAMPAIGN NAME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40080" y="618134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{{campaign_name_full}}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297680" y="600760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PERIOD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297680" y="618134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{{period}}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675120" y="600760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ASSET STATUS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6675120" y="618134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{{asset_status}}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9418320" y="600760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AGENCY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9418320" y="618134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PatoAgencja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SLIDE 1: pola PILAR / TYP / CEL / TYP_YT / Wersja / Agencja muszą być identyczne z segmentami użytymi w nazwie kampanii na platformie. Nieaktywny segment (np. TG) pomiń, nie zostawiaj [nawiasu].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/>
          <p:nvPr/>
        </p:nvSpPr>
        <p:spPr>
          <a:xfrm>
            <a:off x="457200" y="320040"/>
            <a:ext cx="384048" cy="384048"/>
          </a:xfrm>
          <a:prstGeom prst="ellipse">
            <a:avLst/>
          </a:prstGeom>
          <a:solidFill>
            <a:srgbClr val="00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7200" y="320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87552" y="30175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OLX SOCIAL MEDIA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87552" y="48463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Media Results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87552" y="89611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KPI per kanał · CEL/TYP_YT w kontekście wyniku · 3-month lookback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0561320" y="320040"/>
            <a:ext cx="1170432" cy="384048"/>
          </a:xfrm>
          <a:prstGeom prst="roundRect">
            <a:avLst>
              <a:gd fmla="val 14286" name="adj"/>
            </a:avLst>
          </a:prstGeom>
          <a:solidFill>
            <a:srgbClr val="00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0561320" y="320040"/>
            <a:ext cx="1170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{{pilar}}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7200" y="1207008"/>
            <a:ext cx="11274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WYNIKI BIEŻĄCEGO MIESIĄCA — pokaż tylko kanały aktywne w tym raporcie (N/A zamiast pustego wiersza)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3"/>
          <p:cNvGraphicFramePr/>
          <p:nvPr/>
        </p:nvGraphicFramePr>
        <p:xfrm>
          <a:off x="457200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{203BDAC9-63C2-4677-A820-4A4CC105E6EA}</a:tableStyleId>
              </a:tblPr>
              <a:tblGrid>
                <a:gridCol w="1645925"/>
                <a:gridCol w="1463050"/>
                <a:gridCol w="1188725"/>
                <a:gridCol w="1188725"/>
                <a:gridCol w="914400"/>
                <a:gridCol w="1097275"/>
                <a:gridCol w="1234450"/>
                <a:gridCol w="1234450"/>
                <a:gridCol w="130760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 / TYP_YT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Reach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Freq.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CPC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Ads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2B13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12B1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{{cel}}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{{meta_reach}}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{{meta_impressions}}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{{meta_freq}}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{{meta_clicks}}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{{meta_cpc}}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{{meta_cpm}}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{{meta_spend}}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TikTok Ads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2B13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12B1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{{cel}}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{{tiktok_reach}}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{{tiktok_impressions}}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{{tiktok_freq}}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{{tiktok_clicks}}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{{tiktok_cpc}}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{{tiktok_cpm}}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{{tiktok_spend}}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YouTube / LinkedIn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2B13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12B1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{{typ_yt}}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{{ytli_reach}}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{{ytli_impressions}}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{{ytli_freq}}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{{ytli_clicks}}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{{ytli_cpc}}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{{ytli_cpm}}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{{ytli_spend}}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3"/>
          <p:cNvSpPr/>
          <p:nvPr/>
        </p:nvSpPr>
        <p:spPr>
          <a:xfrm>
            <a:off x="457200" y="3054096"/>
            <a:ext cx="11274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Ocena wyniku (dobry / słaby CPM, ryzyko nasycenia itd.) — opisowo w Slide 4 (Deep Dive), z uzasadnieniem kontekstowym zamiast sztywnego progu liczbowego.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57200" y="352044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HEADLINE KPIS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57200" y="3813048"/>
            <a:ext cx="2681478" cy="868680"/>
          </a:xfrm>
          <a:prstGeom prst="roundRect">
            <a:avLst>
              <a:gd fmla="val 736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03504" y="3922776"/>
            <a:ext cx="249859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Total reach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03504" y="4142232"/>
            <a:ext cx="249859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2F34"/>
                </a:solidFill>
                <a:latin typeface="Courier New"/>
                <a:ea typeface="Courier New"/>
                <a:cs typeface="Courier New"/>
                <a:sym typeface="Courier New"/>
              </a:rPr>
              <a:t>{{total_reach}}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03504" y="4489704"/>
            <a:ext cx="249859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MoM {{reach_delta}}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275838" y="3813048"/>
            <a:ext cx="2681478" cy="868680"/>
          </a:xfrm>
          <a:prstGeom prst="roundRect">
            <a:avLst>
              <a:gd fmla="val 736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422142" y="3922776"/>
            <a:ext cx="249859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Top CPM (najniższy)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422142" y="4142232"/>
            <a:ext cx="249859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2F34"/>
                </a:solidFill>
                <a:latin typeface="Courier New"/>
                <a:ea typeface="Courier New"/>
                <a:cs typeface="Courier New"/>
                <a:sym typeface="Courier New"/>
              </a:rPr>
              <a:t>{{best_cpm}}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422142" y="4489704"/>
            <a:ext cx="249859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{{best_cpm_channel}}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094476" y="3813048"/>
            <a:ext cx="2681478" cy="868680"/>
          </a:xfrm>
          <a:prstGeom prst="roundRect">
            <a:avLst>
              <a:gd fmla="val 736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240780" y="3922776"/>
            <a:ext cx="249859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Top frequency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240780" y="4142232"/>
            <a:ext cx="249859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2F34"/>
                </a:solidFill>
                <a:latin typeface="Courier New"/>
                <a:ea typeface="Courier New"/>
                <a:cs typeface="Courier New"/>
                <a:sym typeface="Courier New"/>
              </a:rPr>
              <a:t>{{top_freq}}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240780" y="4489704"/>
            <a:ext cx="249859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{{top_freq_channel}}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8913114" y="3813048"/>
            <a:ext cx="2681478" cy="868680"/>
          </a:xfrm>
          <a:prstGeom prst="roundRect">
            <a:avLst>
              <a:gd fmla="val 736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9059418" y="3922776"/>
            <a:ext cx="249859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Budget spent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9059418" y="4142232"/>
            <a:ext cx="249859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2F34"/>
                </a:solidFill>
                <a:latin typeface="Courier New"/>
                <a:ea typeface="Courier New"/>
                <a:cs typeface="Courier New"/>
                <a:sym typeface="Courier New"/>
              </a:rPr>
              <a:t>{{spend}}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059418" y="4489704"/>
            <a:ext cx="249859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{{vs_planned}}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57200" y="4892040"/>
            <a:ext cx="11274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3-MONTH LOOKBACK — obowiązkowy dla kampanii cyklicznych (CEP, FEED, LIST). Pierwszy miesiąc w nowym formacie: wpisz "pierwsze dane".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" name="Google Shape;113;p3"/>
          <p:cNvGraphicFramePr/>
          <p:nvPr/>
        </p:nvGraphicFramePr>
        <p:xfrm>
          <a:off x="457200" y="51480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{203BDAC9-63C2-4677-A820-4A4CC105E6EA}</a:tableStyleId>
              </a:tblPr>
              <a:tblGrid>
                <a:gridCol w="1828800"/>
                <a:gridCol w="1828800"/>
                <a:gridCol w="1828800"/>
                <a:gridCol w="2130550"/>
                <a:gridCol w="36576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M-2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M-1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 (bieżący)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5EEA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Trend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F3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{{meta_m2}}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{{meta_m1}}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{{meta_m0}}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{{meta_trend}}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TikTok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{{tiktok_m2}}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{{tiktok_m1}}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{{tiktok_m0}}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{{tiktok_trend}}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" name="Google Shape;114;p3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SLIDE 2: kolumna CEL/TYP_YT musi zgadzać się z segmentem z nazwy kampanii (Slide 1). Kontekst i ocena wyniku opisowo w Slide 4.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457200" y="320040"/>
            <a:ext cx="384048" cy="384048"/>
          </a:xfrm>
          <a:prstGeom prst="ellipse">
            <a:avLst/>
          </a:prstGeom>
          <a:solidFill>
            <a:srgbClr val="00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57200" y="320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87552" y="30175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OLX SOCIAL MEDIA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987552" y="48463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Creative Assets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987552" y="89611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Top 3 per kanał · miniaturki · Asset ID zgodny z konwencją namingu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0561320" y="320040"/>
            <a:ext cx="1170432" cy="384048"/>
          </a:xfrm>
          <a:prstGeom prst="roundRect">
            <a:avLst>
              <a:gd fmla="val 14286" name="adj"/>
            </a:avLst>
          </a:prstGeom>
          <a:solidFill>
            <a:srgbClr val="00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0561320" y="320040"/>
            <a:ext cx="1170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{{pilar}}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57200" y="1170432"/>
            <a:ext cx="11274552" cy="384048"/>
          </a:xfrm>
          <a:prstGeom prst="roundRect">
            <a:avLst>
              <a:gd fmla="val 11905" name="adj"/>
            </a:avLst>
          </a:prstGeom>
          <a:solidFill>
            <a:srgbClr val="E1F5EE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50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5041"/>
                </a:solidFill>
                <a:latin typeface="Calibri"/>
                <a:ea typeface="Calibri"/>
                <a:cs typeface="Calibri"/>
                <a:sym typeface="Calibri"/>
              </a:rPr>
              <a:t>Asset ID: </a:t>
            </a:r>
            <a:r>
              <a:rPr b="0" i="0" lang="en-US" sz="1000" u="none" cap="none" strike="noStrike">
                <a:solidFill>
                  <a:srgbClr val="085041"/>
                </a:solidFill>
                <a:latin typeface="Courier New"/>
                <a:ea typeface="Courier New"/>
                <a:cs typeface="Courier New"/>
                <a:sym typeface="Courier New"/>
              </a:rPr>
              <a:t>[PILAR]-[TYP]-[FORMAT]-[MMM]-[NNN]-[wersja]   np. JOBS-FEED-VID10s-JUL-001-v1 · GOODS-CEP-STATIC-JUL-003-v2 (v2 = recykling z poprzedniego flightu)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57200" y="1691640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META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57200" y="1993392"/>
            <a:ext cx="3575304" cy="18288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94360" y="2130552"/>
            <a:ext cx="3300984" cy="868680"/>
          </a:xfrm>
          <a:prstGeom prst="rect">
            <a:avLst/>
          </a:prstGeom>
          <a:solidFill>
            <a:srgbClr val="EEF2F5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94360" y="2130552"/>
            <a:ext cx="33009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 miniaturka kreacji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94360" y="3035808"/>
            <a:ext cx="33009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{{meta_cr1_id}}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94360" y="3227832"/>
            <a:ext cx="33009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{{meta_cr1_kpi}}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94360" y="3419856"/>
            <a:ext cx="33009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{{meta_cr1_note}}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57200" y="3977640"/>
            <a:ext cx="1719072" cy="141732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48640" y="4087368"/>
            <a:ext cx="1536192" cy="502920"/>
          </a:xfrm>
          <a:prstGeom prst="rect">
            <a:avLst/>
          </a:prstGeom>
          <a:solidFill>
            <a:srgbClr val="EEF2F5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48640" y="408736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[miniaturka]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48640" y="4617720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{{meta_cr2_id}}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48640" y="4782312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{{meta_cr2_kpi}}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48640" y="4946904"/>
            <a:ext cx="1536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{{meta_cr2_note}}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2313432" y="3977640"/>
            <a:ext cx="1719072" cy="141732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2404872" y="4087368"/>
            <a:ext cx="1536192" cy="502920"/>
          </a:xfrm>
          <a:prstGeom prst="rect">
            <a:avLst/>
          </a:prstGeom>
          <a:solidFill>
            <a:srgbClr val="EEF2F5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404872" y="408736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[miniaturka]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2404872" y="4617720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{{meta_cr3_id}}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2404872" y="4782312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{{meta_cr3_kpi}}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2404872" y="4946904"/>
            <a:ext cx="1536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{{meta_cr3_note}}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306824" y="1691640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TIKTOK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306824" y="1993392"/>
            <a:ext cx="3575304" cy="18288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443984" y="2130552"/>
            <a:ext cx="3300984" cy="868680"/>
          </a:xfrm>
          <a:prstGeom prst="rect">
            <a:avLst/>
          </a:prstGeom>
          <a:solidFill>
            <a:srgbClr val="EEF2F5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443984" y="2130552"/>
            <a:ext cx="33009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 miniaturka kreacji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443984" y="3035808"/>
            <a:ext cx="33009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{{tiktok_cr1_id}}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443984" y="3227832"/>
            <a:ext cx="33009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{{tiktok_cr1_kpi}}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443984" y="3419856"/>
            <a:ext cx="33009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{{tiktok_cr1_note}}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306824" y="3977640"/>
            <a:ext cx="1719072" cy="141732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398264" y="4087368"/>
            <a:ext cx="1536192" cy="502920"/>
          </a:xfrm>
          <a:prstGeom prst="rect">
            <a:avLst/>
          </a:prstGeom>
          <a:solidFill>
            <a:srgbClr val="EEF2F5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398264" y="408736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[miniaturka]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4398264" y="4617720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{{tiktok_cr2_id}}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4398264" y="4782312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{{tiktok_cr2_kpi}}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398264" y="4946904"/>
            <a:ext cx="1536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{{tiktok_cr2_note}}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163056" y="3977640"/>
            <a:ext cx="1719072" cy="141732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6254496" y="4087368"/>
            <a:ext cx="1536192" cy="502920"/>
          </a:xfrm>
          <a:prstGeom prst="rect">
            <a:avLst/>
          </a:prstGeom>
          <a:solidFill>
            <a:srgbClr val="EEF2F5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254496" y="408736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[miniaturka]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254496" y="4617720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{{tiktok_cr3_id}}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6254496" y="4782312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{{tiktok_cr3_kpi}}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6254496" y="4946904"/>
            <a:ext cx="1536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{{tiktok_cr3_note}}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8156448" y="1691640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YT / LINKEDIN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8156448" y="1993392"/>
            <a:ext cx="3575304" cy="18288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8293608" y="2130552"/>
            <a:ext cx="3300984" cy="868680"/>
          </a:xfrm>
          <a:prstGeom prst="rect">
            <a:avLst/>
          </a:prstGeom>
          <a:solidFill>
            <a:srgbClr val="EEF2F5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8293608" y="2130552"/>
            <a:ext cx="33009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 miniaturka kreacji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8293608" y="3035808"/>
            <a:ext cx="33009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{{ytli_cr1_id}}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8293608" y="3227832"/>
            <a:ext cx="33009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{{ytli_cr1_kpi}}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8293608" y="3419856"/>
            <a:ext cx="33009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{{ytli_cr1_note}}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156448" y="3977640"/>
            <a:ext cx="1719072" cy="141732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8247888" y="4087368"/>
            <a:ext cx="1536192" cy="502920"/>
          </a:xfrm>
          <a:prstGeom prst="rect">
            <a:avLst/>
          </a:prstGeom>
          <a:solidFill>
            <a:srgbClr val="EEF2F5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8247888" y="408736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[miniaturka]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8247888" y="4617720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{{ytli_cr2_id}}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8247888" y="4782312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{{ytli_cr2_kpi}}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8247888" y="4946904"/>
            <a:ext cx="1536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{{ytli_cr2_note}}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10012680" y="3977640"/>
            <a:ext cx="1719072" cy="141732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10104120" y="4087368"/>
            <a:ext cx="1536192" cy="502920"/>
          </a:xfrm>
          <a:prstGeom prst="rect">
            <a:avLst/>
          </a:prstGeom>
          <a:solidFill>
            <a:srgbClr val="EEF2F5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10104120" y="408736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[miniaturka]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10104120" y="4617720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{{ytli_cr3_id}}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10104120" y="4782312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{{ytli_cr3_kpi}}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0104120" y="4946904"/>
            <a:ext cx="1536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{{ytli_cr3_note}}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457200" y="5623560"/>
            <a:ext cx="11274552" cy="457200"/>
          </a:xfrm>
          <a:prstGeom prst="roundRect">
            <a:avLst>
              <a:gd fmla="val 10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Total assets: {{assets_total}}   ·   New / Recycled: {{assets_new_recycled}}   ·   A/B testing: {{ab_testing}}   ·   Ambasadorzy: {{ambassadors}}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SLIDE 3: ID kreacji jest stały — raz nadany, używany we wszystkich kolejnych raportach. Recykling tej samej kreacji w nowym flighcie = zwiększ wersję (v1→v2), nie twórz nowego ID.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/>
          <p:nvPr/>
        </p:nvSpPr>
        <p:spPr>
          <a:xfrm>
            <a:off x="457200" y="320040"/>
            <a:ext cx="384048" cy="384048"/>
          </a:xfrm>
          <a:prstGeom prst="ellipse">
            <a:avLst/>
          </a:prstGeom>
          <a:solidFill>
            <a:srgbClr val="00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457200" y="320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987552" y="30175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OLX SOCIAL MEDIA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987552" y="48463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Deep Dive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987552" y="89611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Analiza per kanał · flagi anomalii (etykiety tekstowe, AI-safe) · pytania do OLX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10561320" y="320040"/>
            <a:ext cx="1170432" cy="384048"/>
          </a:xfrm>
          <a:prstGeom prst="roundRect">
            <a:avLst>
              <a:gd fmla="val 14286" name="adj"/>
            </a:avLst>
          </a:prstGeom>
          <a:solidFill>
            <a:srgbClr val="00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10561320" y="320040"/>
            <a:ext cx="1170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{{pilar}}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57200" y="1234440"/>
            <a:ext cx="3575304" cy="3794760"/>
          </a:xfrm>
          <a:prstGeom prst="roundRect">
            <a:avLst>
              <a:gd fmla="val 17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21792" y="1371600"/>
            <a:ext cx="22037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Meta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2706624" y="13716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FEF3C7"/>
          </a:solidFill>
          <a:ln cap="flat" cmpd="sng" w="127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2706624" y="13716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{{meta_flag}}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21792" y="17373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{{meta_flag_desc}}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21792" y="2103120"/>
            <a:ext cx="32461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{{meta_dd1}}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{{meta_dd2}}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{{meta_dd3}}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{{meta_dd4}}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{{meta_dd5}}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621792" y="464515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1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YouTube: brak reach/freq — wpisz impressions/VTR/CPV, zaznacz w narracji.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306824" y="1234440"/>
            <a:ext cx="3575304" cy="3794760"/>
          </a:xfrm>
          <a:prstGeom prst="roundRect">
            <a:avLst>
              <a:gd fmla="val 17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4471416" y="1371600"/>
            <a:ext cx="22037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TikTok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556248" y="13716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FEF3C7"/>
          </a:solidFill>
          <a:ln cap="flat" cmpd="sng" w="127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56248" y="13716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{{tiktok_flag}}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4471416" y="17373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{{tiktok_flag_desc}}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4471416" y="2103120"/>
            <a:ext cx="32461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{{tiktok_dd1}}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{{tiktok_dd2}}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{{tiktok_dd3}}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{{tiktok_dd4}}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{{tiktok_dd5}}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4471416" y="464515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1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YouTube: brak reach/freq — wpisz impressions/VTR/CPV, zaznacz w narracji.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8156448" y="1234440"/>
            <a:ext cx="3575304" cy="3794760"/>
          </a:xfrm>
          <a:prstGeom prst="roundRect">
            <a:avLst>
              <a:gd fmla="val 17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8321040" y="1371600"/>
            <a:ext cx="22037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YouTube / LinkedIn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10405872" y="13716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FEF3C7"/>
          </a:solidFill>
          <a:ln cap="flat" cmpd="sng" w="127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10405872" y="13716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{{ytli_flag}}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8321040" y="17373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{{ytli_flag_desc}}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8321040" y="2103120"/>
            <a:ext cx="32461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{{ytli_dd1}}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{{ytli_dd2}}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{{ytli_dd3}}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{{ytli_dd4}}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{{ytli_dd5}}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8321040" y="464515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1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YouTube: brak reach/freq — wpisz impressions/VTR/CPV, zaznacz w narracji.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457200" y="5212080"/>
            <a:ext cx="11274552" cy="777240"/>
          </a:xfrm>
          <a:prstGeom prst="roundRect">
            <a:avLst>
              <a:gd fmla="val 7059" name="adj"/>
            </a:avLst>
          </a:prstGeom>
          <a:solidFill>
            <a:srgbClr val="00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640080" y="528523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PYTANIA / DECYZJE DLA OLX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640080" y="5486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{{questions}}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SLIDE 4: flaga OK/WATCH/ALERT jako etykieta tekstowa (nie emoji) — gwarantuje poprawny odczyt przez systemy AI niezależnie od renderowanej czcionki.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/>
          <p:nvPr/>
        </p:nvSpPr>
        <p:spPr>
          <a:xfrm>
            <a:off x="457200" y="320040"/>
            <a:ext cx="384048" cy="384048"/>
          </a:xfrm>
          <a:prstGeom prst="ellipse">
            <a:avLst/>
          </a:prstGeom>
          <a:solidFill>
            <a:srgbClr val="00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457200" y="320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987552" y="30175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OLX SOCIAL MEDIA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987552" y="48463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Learnings &amp; Recommendations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987552" y="89611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 zadziałało · co robić dalej · priorytety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10561320" y="320040"/>
            <a:ext cx="1170432" cy="384048"/>
          </a:xfrm>
          <a:prstGeom prst="roundRect">
            <a:avLst>
              <a:gd fmla="val 14286" name="adj"/>
            </a:avLst>
          </a:prstGeom>
          <a:solidFill>
            <a:srgbClr val="002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10561320" y="320040"/>
            <a:ext cx="1170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{{pilar}}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457200" y="1234440"/>
            <a:ext cx="5303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KEY LEARNINGS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57200" y="1572768"/>
            <a:ext cx="5303520" cy="1280160"/>
          </a:xfrm>
          <a:prstGeom prst="roundRect">
            <a:avLst>
              <a:gd fmla="val 5000" name="adj"/>
            </a:avLst>
          </a:prstGeom>
          <a:solidFill>
            <a:srgbClr val="ECFDF5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621792" y="1719072"/>
            <a:ext cx="457200" cy="365760"/>
          </a:xfrm>
          <a:prstGeom prst="roundRect">
            <a:avLst>
              <a:gd fmla="val 12500" name="adj"/>
            </a:avLst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621792" y="171907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rPr>
              <a:t>L1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1234440" y="1700784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64E3B"/>
                </a:solidFill>
                <a:latin typeface="Arial"/>
                <a:ea typeface="Arial"/>
                <a:cs typeface="Arial"/>
                <a:sym typeface="Arial"/>
              </a:rPr>
              <a:t>{{learning1}}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457200" y="2990088"/>
            <a:ext cx="5303520" cy="1280160"/>
          </a:xfrm>
          <a:prstGeom prst="roundRect">
            <a:avLst>
              <a:gd fmla="val 5000" name="adj"/>
            </a:avLst>
          </a:prstGeom>
          <a:solidFill>
            <a:srgbClr val="ECFDF5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621792" y="3136392"/>
            <a:ext cx="457200" cy="365760"/>
          </a:xfrm>
          <a:prstGeom prst="roundRect">
            <a:avLst>
              <a:gd fmla="val 12500" name="adj"/>
            </a:avLst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621792" y="313639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rPr>
              <a:t>L2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1234440" y="3118104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64E3B"/>
                </a:solidFill>
                <a:latin typeface="Arial"/>
                <a:ea typeface="Arial"/>
                <a:cs typeface="Arial"/>
                <a:sym typeface="Arial"/>
              </a:rPr>
              <a:t>{{learning2}}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57200" y="4407408"/>
            <a:ext cx="5303520" cy="1280160"/>
          </a:xfrm>
          <a:prstGeom prst="roundRect">
            <a:avLst>
              <a:gd fmla="val 5000" name="adj"/>
            </a:avLst>
          </a:prstGeom>
          <a:solidFill>
            <a:srgbClr val="ECFDF5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621792" y="4553712"/>
            <a:ext cx="457200" cy="365760"/>
          </a:xfrm>
          <a:prstGeom prst="roundRect">
            <a:avLst>
              <a:gd fmla="val 12500" name="adj"/>
            </a:avLst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621792" y="455371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rPr>
              <a:t>L3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1234440" y="4535424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64E3B"/>
                </a:solidFill>
                <a:latin typeface="Arial"/>
                <a:ea typeface="Arial"/>
                <a:cs typeface="Arial"/>
                <a:sym typeface="Arial"/>
              </a:rPr>
              <a:t>{{learning3}}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5989320" y="1234440"/>
            <a:ext cx="57424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5989320" y="1572768"/>
            <a:ext cx="5742432" cy="128016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6153912" y="1719072"/>
            <a:ext cx="685800" cy="329184"/>
          </a:xfrm>
          <a:prstGeom prst="roundRect">
            <a:avLst>
              <a:gd fmla="val 13889" name="adj"/>
            </a:avLst>
          </a:prstGeom>
          <a:solidFill>
            <a:srgbClr val="FEE2E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6153912" y="1719072"/>
            <a:ext cx="685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6995160" y="1700784"/>
            <a:ext cx="4617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{{reco1}}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5989320" y="2990088"/>
            <a:ext cx="5742432" cy="128016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6153912" y="3136392"/>
            <a:ext cx="685800" cy="329184"/>
          </a:xfrm>
          <a:prstGeom prst="roundRect">
            <a:avLst>
              <a:gd fmla="val 13889" name="adj"/>
            </a:avLst>
          </a:prstGeom>
          <a:solidFill>
            <a:srgbClr val="FEE2E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6153912" y="3136392"/>
            <a:ext cx="685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6995160" y="3118104"/>
            <a:ext cx="4617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{{reco2}}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5989320" y="4407408"/>
            <a:ext cx="5742432" cy="128016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6153912" y="4553712"/>
            <a:ext cx="685800" cy="329184"/>
          </a:xfrm>
          <a:prstGeom prst="roundRect">
            <a:avLst>
              <a:gd fmla="val 13889" name="adj"/>
            </a:avLst>
          </a:prstGeom>
          <a:solidFill>
            <a:srgbClr val="FEF3C7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153912" y="4553712"/>
            <a:ext cx="685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6995160" y="4535424"/>
            <a:ext cx="4617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{{reco3}}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SLIDE 5: rekomendacja = akcja + termin + odpowiedzialny. Priorytety: HIGH (przed kolejnym miesiącem) · MED (w ciągu kwartału) · LOW (nice to have).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34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"/>
          <p:cNvSpPr/>
          <p:nvPr/>
        </p:nvSpPr>
        <p:spPr>
          <a:xfrm>
            <a:off x="457200" y="32004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57200" y="320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F3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2F3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987552" y="30175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AI SUMMARY BLOCK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987552" y="512064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Machine-readable — nie zmieniaj kluczy (lewa kolumna), wypełniaj tylko wartości. N/A dla brakujących danych.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7"/>
          <p:cNvCxnSpPr/>
          <p:nvPr/>
        </p:nvCxnSpPr>
        <p:spPr>
          <a:xfrm>
            <a:off x="548640" y="13167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7"/>
          <p:cNvSpPr/>
          <p:nvPr/>
        </p:nvSpPr>
        <p:spPr>
          <a:xfrm>
            <a:off x="548640" y="9144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REPORT_ID: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2514600" y="9144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{{report_id}}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7"/>
          <p:cNvCxnSpPr/>
          <p:nvPr/>
        </p:nvCxnSpPr>
        <p:spPr>
          <a:xfrm>
            <a:off x="548640" y="17739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7"/>
          <p:cNvSpPr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PILLAR: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2514600" y="13716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{{pilar}}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7"/>
          <p:cNvCxnSpPr/>
          <p:nvPr/>
        </p:nvCxnSpPr>
        <p:spPr>
          <a:xfrm>
            <a:off x="548640" y="22311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7"/>
          <p:cNvSpPr/>
          <p:nvPr/>
        </p:nvSpPr>
        <p:spPr>
          <a:xfrm>
            <a:off x="548640" y="18288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TYP: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2514600" y="18288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{{typ}}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7"/>
          <p:cNvCxnSpPr/>
          <p:nvPr/>
        </p:nvCxnSpPr>
        <p:spPr>
          <a:xfrm>
            <a:off x="548640" y="26883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7"/>
          <p:cNvSpPr/>
          <p:nvPr/>
        </p:nvSpPr>
        <p:spPr>
          <a:xfrm>
            <a:off x="548640" y="22860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CEL: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2514600" y="22860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{{cel}}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7"/>
          <p:cNvCxnSpPr/>
          <p:nvPr/>
        </p:nvCxnSpPr>
        <p:spPr>
          <a:xfrm>
            <a:off x="548640" y="31455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7"/>
          <p:cNvSpPr/>
          <p:nvPr/>
        </p:nvSpPr>
        <p:spPr>
          <a:xfrm>
            <a:off x="548640" y="27432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TYP_YT: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2514600" y="27432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{{typ_yt}}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7"/>
          <p:cNvCxnSpPr/>
          <p:nvPr/>
        </p:nvCxnSpPr>
        <p:spPr>
          <a:xfrm>
            <a:off x="548640" y="36027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7"/>
          <p:cNvSpPr/>
          <p:nvPr/>
        </p:nvSpPr>
        <p:spPr>
          <a:xfrm>
            <a:off x="548640" y="32004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VERSION: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2514600" y="32004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{{version}}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7"/>
          <p:cNvCxnSpPr/>
          <p:nvPr/>
        </p:nvCxnSpPr>
        <p:spPr>
          <a:xfrm>
            <a:off x="548640" y="40599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7"/>
          <p:cNvSpPr/>
          <p:nvPr/>
        </p:nvSpPr>
        <p:spPr>
          <a:xfrm>
            <a:off x="548640" y="36576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AGENCY_CODE: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2514600" y="36576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{{agency_code}}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7"/>
          <p:cNvCxnSpPr/>
          <p:nvPr/>
        </p:nvCxnSpPr>
        <p:spPr>
          <a:xfrm>
            <a:off x="548640" y="45171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7"/>
          <p:cNvSpPr/>
          <p:nvPr/>
        </p:nvSpPr>
        <p:spPr>
          <a:xfrm>
            <a:off x="548640" y="41148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CAMPAIGN_NAME_FULL: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2514600" y="41148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{{campaign_name_full}}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7"/>
          <p:cNvCxnSpPr/>
          <p:nvPr/>
        </p:nvCxnSpPr>
        <p:spPr>
          <a:xfrm>
            <a:off x="548640" y="49743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7"/>
          <p:cNvSpPr/>
          <p:nvPr/>
        </p:nvSpPr>
        <p:spPr>
          <a:xfrm>
            <a:off x="548640" y="45720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PERIOD: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2514600" y="45720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{{period}}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7"/>
          <p:cNvCxnSpPr/>
          <p:nvPr/>
        </p:nvCxnSpPr>
        <p:spPr>
          <a:xfrm>
            <a:off x="548640" y="54315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7"/>
          <p:cNvSpPr/>
          <p:nvPr/>
        </p:nvSpPr>
        <p:spPr>
          <a:xfrm>
            <a:off x="548640" y="50292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BUDGET_SPENT: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2514600" y="50292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{{budget_spent_line}}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7"/>
          <p:cNvCxnSpPr/>
          <p:nvPr/>
        </p:nvCxnSpPr>
        <p:spPr>
          <a:xfrm>
            <a:off x="548640" y="58887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7"/>
          <p:cNvSpPr/>
          <p:nvPr/>
        </p:nvSpPr>
        <p:spPr>
          <a:xfrm>
            <a:off x="548640" y="54864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CHANNELS: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2514600" y="54864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{{channels_dotted}}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7"/>
          <p:cNvCxnSpPr/>
          <p:nvPr/>
        </p:nvCxnSpPr>
        <p:spPr>
          <a:xfrm>
            <a:off x="548640" y="63459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7"/>
          <p:cNvSpPr/>
          <p:nvPr/>
        </p:nvSpPr>
        <p:spPr>
          <a:xfrm>
            <a:off x="548640" y="59436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NAMING_STRING_META: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2514600" y="59436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{{naming_meta}}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7"/>
          <p:cNvCxnSpPr/>
          <p:nvPr/>
        </p:nvCxnSpPr>
        <p:spPr>
          <a:xfrm>
            <a:off x="6263640" y="13167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7"/>
          <p:cNvSpPr/>
          <p:nvPr/>
        </p:nvSpPr>
        <p:spPr>
          <a:xfrm>
            <a:off x="6263640" y="9144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NAMING_STRING_TIKTOK: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8229600" y="9144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{{naming_tiktok}}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7"/>
          <p:cNvCxnSpPr/>
          <p:nvPr/>
        </p:nvCxnSpPr>
        <p:spPr>
          <a:xfrm>
            <a:off x="6263640" y="17739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7"/>
          <p:cNvSpPr/>
          <p:nvPr/>
        </p:nvSpPr>
        <p:spPr>
          <a:xfrm>
            <a:off x="6263640" y="13716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NAMING_STRING_LINKEDIN: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8229600" y="13716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{{naming_linkedin}}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7"/>
          <p:cNvCxnSpPr/>
          <p:nvPr/>
        </p:nvCxnSpPr>
        <p:spPr>
          <a:xfrm>
            <a:off x="6263640" y="22311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7"/>
          <p:cNvSpPr/>
          <p:nvPr/>
        </p:nvSpPr>
        <p:spPr>
          <a:xfrm>
            <a:off x="6263640" y="18288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NAMING_STRING_YOUTUBE: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8229600" y="18288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{{naming_youtube}}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7"/>
          <p:cNvCxnSpPr/>
          <p:nvPr/>
        </p:nvCxnSpPr>
        <p:spPr>
          <a:xfrm>
            <a:off x="6263640" y="26883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7"/>
          <p:cNvSpPr/>
          <p:nvPr/>
        </p:nvSpPr>
        <p:spPr>
          <a:xfrm>
            <a:off x="6263640" y="22860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TOP_CPM: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8229600" y="22860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{{top_cpm_line}}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7"/>
          <p:cNvCxnSpPr/>
          <p:nvPr/>
        </p:nvCxnSpPr>
        <p:spPr>
          <a:xfrm>
            <a:off x="6263640" y="31455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7"/>
          <p:cNvSpPr/>
          <p:nvPr/>
        </p:nvSpPr>
        <p:spPr>
          <a:xfrm>
            <a:off x="6263640" y="27432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TOP_REACH: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8229600" y="27432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{{top_reach_line}}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7"/>
          <p:cNvCxnSpPr/>
          <p:nvPr/>
        </p:nvCxnSpPr>
        <p:spPr>
          <a:xfrm>
            <a:off x="6263640" y="36027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7"/>
          <p:cNvSpPr/>
          <p:nvPr/>
        </p:nvSpPr>
        <p:spPr>
          <a:xfrm>
            <a:off x="6263640" y="32004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BEST_CREATIVE: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8229600" y="32004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{{best_creative_line}}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7"/>
          <p:cNvCxnSpPr/>
          <p:nvPr/>
        </p:nvCxnSpPr>
        <p:spPr>
          <a:xfrm>
            <a:off x="6263640" y="40599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7"/>
          <p:cNvSpPr/>
          <p:nvPr/>
        </p:nvSpPr>
        <p:spPr>
          <a:xfrm>
            <a:off x="6263640" y="36576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MAIN_LEARNING_1: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8229600" y="36576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{{main_learning_1}}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" name="Google Shape;331;p7"/>
          <p:cNvCxnSpPr/>
          <p:nvPr/>
        </p:nvCxnSpPr>
        <p:spPr>
          <a:xfrm>
            <a:off x="6263640" y="45171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7"/>
          <p:cNvSpPr/>
          <p:nvPr/>
        </p:nvSpPr>
        <p:spPr>
          <a:xfrm>
            <a:off x="6263640" y="41148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MAIN_LEARNING_2: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8229600" y="41148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{{main_learning_2}}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7"/>
          <p:cNvCxnSpPr/>
          <p:nvPr/>
        </p:nvCxnSpPr>
        <p:spPr>
          <a:xfrm>
            <a:off x="6263640" y="49743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7"/>
          <p:cNvSpPr/>
          <p:nvPr/>
        </p:nvSpPr>
        <p:spPr>
          <a:xfrm>
            <a:off x="6263640" y="45720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MAIN_LEARNING_3: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8229600" y="45720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{{main_learning_3}}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7"/>
          <p:cNvCxnSpPr/>
          <p:nvPr/>
        </p:nvCxnSpPr>
        <p:spPr>
          <a:xfrm>
            <a:off x="6263640" y="54315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7"/>
          <p:cNvSpPr/>
          <p:nvPr/>
        </p:nvSpPr>
        <p:spPr>
          <a:xfrm>
            <a:off x="6263640" y="50292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FLAG_ANOMALY: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8229600" y="50292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{{flag_anomaly}}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7"/>
          <p:cNvCxnSpPr/>
          <p:nvPr/>
        </p:nvCxnSpPr>
        <p:spPr>
          <a:xfrm>
            <a:off x="6263640" y="58887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7"/>
          <p:cNvSpPr/>
          <p:nvPr/>
        </p:nvSpPr>
        <p:spPr>
          <a:xfrm>
            <a:off x="6263640" y="54864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TREND_VS_PREV_MONTH: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8229600" y="54864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{{trend_vs_prev}}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7"/>
          <p:cNvCxnSpPr/>
          <p:nvPr/>
        </p:nvCxnSpPr>
        <p:spPr>
          <a:xfrm>
            <a:off x="6263640" y="6345936"/>
            <a:ext cx="5349240" cy="0"/>
          </a:xfrm>
          <a:prstGeom prst="straightConnector1">
            <a:avLst/>
          </a:prstGeom>
          <a:noFill/>
          <a:ln cap="flat" cmpd="sng" w="9525">
            <a:solidFill>
              <a:srgbClr val="0B4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7"/>
          <p:cNvSpPr/>
          <p:nvPr/>
        </p:nvSpPr>
        <p:spPr>
          <a:xfrm>
            <a:off x="6263640" y="59436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PREV_REPORT_ID: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8229600" y="59436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{{prev_report_id}}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SLIDE 6: REPORT_ID i NAMING_STRING_* muszą być spójne z nazwami kampanii faktycznie użytymi w Meta/TikTok/LinkedIn/YouTube Ads Manager (patrz Slide 1).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